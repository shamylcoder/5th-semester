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Roboto Slab"/>
      <p:regular r:id="rId18"/>
    </p:embeddedFont>
    <p:embeddedFont>
      <p:font typeface="Roboto Slab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mylcoder/5th-semester" TargetMode="External"/><Relationship Id="rId5" Type="http://schemas.openxmlformats.org/officeDocument/2006/relationships/hyperlink" Target="https://github.com/FazalHashmi001/AI-Project" TargetMode="External"/><Relationship Id="rId8" Type="http://schemas.openxmlformats.org/officeDocument/2006/relationships/hyperlink" Target="https://www.linkedin.com/posts/fazal-hashmi-aa377039a_excited-to-share-my-ai-semester-project-activity-7459265305685516289-riUV" TargetMode="External"/><Relationship Id="rId10" Type="http://schemas.openxmlformats.org/officeDocument/2006/relationships/hyperlink" Target="https://www.linkedin.com/posts/muhammad-shamyl-277661333_adaptive-intelligent-disaster-response-agent-activity-7459267535755165696-yRET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image" Target="../media/image-11-4.png"/><Relationship Id="rId7" Type="http://schemas.openxmlformats.org/officeDocument/2006/relationships/image" Target="../media/image-11-5.png"/><Relationship Id="rId9" Type="http://schemas.openxmlformats.org/officeDocument/2006/relationships/image" Target="../media/image-11-6.png"/><Relationship Id="rId11" Type="http://schemas.openxmlformats.org/officeDocument/2006/relationships/slideLayout" Target="../slideLayouts/slideLayout12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08831"/>
            <a:ext cx="571872" cy="270346"/>
          </a:xfrm>
          <a:prstGeom prst="roundRect">
            <a:avLst>
              <a:gd name="adj" fmla="val 6194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858" y="455414"/>
            <a:ext cx="39491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AIC-201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129978" y="408831"/>
            <a:ext cx="926753" cy="270346"/>
          </a:xfrm>
          <a:prstGeom prst="roundRect">
            <a:avLst>
              <a:gd name="adj" fmla="val 6194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8456" y="455414"/>
            <a:ext cx="74979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SEMESTER 5-A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88379" y="734095"/>
            <a:ext cx="8167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AIDRA: Adaptive Intelligent Disaster Response Agent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88379" y="1812280"/>
            <a:ext cx="8167241" cy="586978"/>
          </a:xfrm>
          <a:prstGeom prst="roundRect">
            <a:avLst>
              <a:gd name="adj" fmla="val 3566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6" y="2021681"/>
            <a:ext cx="174427" cy="1395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59" y="1984474"/>
            <a:ext cx="7574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Artificial Intelligence —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Semester 5-A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8379" y="2588568"/>
            <a:ext cx="8167241" cy="10418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88379" y="2942779"/>
            <a:ext cx="3913436" cy="586978"/>
          </a:xfrm>
          <a:prstGeom prst="roundRect">
            <a:avLst>
              <a:gd name="adj" fmla="val 3566"/>
            </a:avLst>
          </a:prstGeom>
          <a:solidFill>
            <a:srgbClr val="C3CFE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06" y="3152180"/>
            <a:ext cx="174427" cy="1395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1859" y="3114973"/>
            <a:ext cx="3320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Instructor: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Dr. Arshad Farhad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46947" y="2942779"/>
            <a:ext cx="3913436" cy="586978"/>
          </a:xfrm>
          <a:prstGeom prst="roundRect">
            <a:avLst>
              <a:gd name="adj" fmla="val 3566"/>
            </a:avLst>
          </a:prstGeom>
          <a:solidFill>
            <a:srgbClr val="B6D6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74" y="3152180"/>
            <a:ext cx="174427" cy="1395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00427" y="3114973"/>
            <a:ext cx="3320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Bahria University, Islamabad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8379" y="3993207"/>
            <a:ext cx="3913436" cy="586978"/>
          </a:xfrm>
          <a:prstGeom prst="roundRect">
            <a:avLst>
              <a:gd name="adj" fmla="val 3566"/>
            </a:avLst>
          </a:prstGeom>
          <a:solidFill>
            <a:srgbClr val="B6FCB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6" y="4202609"/>
            <a:ext cx="174427" cy="13952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41859" y="4165402"/>
            <a:ext cx="3320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Fazal Ud Deen Hashmi 01-13421-011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746947" y="3993207"/>
            <a:ext cx="3913436" cy="586978"/>
          </a:xfrm>
          <a:prstGeom prst="roundRect">
            <a:avLst>
              <a:gd name="adj" fmla="val 3566"/>
            </a:avLst>
          </a:prstGeom>
          <a:solidFill>
            <a:srgbClr val="FCF2B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474" y="4202609"/>
            <a:ext cx="174427" cy="1395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00427" y="4165402"/>
            <a:ext cx="33204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Muhammad Shamyl 01-134232-133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319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49698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1964754"/>
            <a:ext cx="177180" cy="1417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926878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2005 Kashmir Earthquake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(Magnitude 7.6, Muzaffarabad)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2511549"/>
            <a:ext cx="815176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victims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different locations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ambulances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(2 capacity each), 1 rescue team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medical kits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available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Conflicting objectives: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 vs. Risk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vs. Throughput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 constraints: max 2 victims/ambulance, team handles 1 at a time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challenge: roads block mid-mission due to aftershocks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75568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4835" y="925860"/>
            <a:ext cx="3478857" cy="3841998"/>
          </a:xfrm>
          <a:prstGeom prst="roundRect">
            <a:avLst>
              <a:gd name="adj" fmla="val 535"/>
            </a:avLst>
          </a:prstGeom>
          <a:solidFill>
            <a:srgbClr val="EAF4FF"/>
          </a:solidFill>
          <a:ln/>
        </p:spPr>
      </p:sp>
      <p:sp>
        <p:nvSpPr>
          <p:cNvPr id="4" name="Shape 2"/>
          <p:cNvSpPr/>
          <p:nvPr/>
        </p:nvSpPr>
        <p:spPr>
          <a:xfrm>
            <a:off x="468809" y="1047899"/>
            <a:ext cx="1561207" cy="1509043"/>
          </a:xfrm>
          <a:prstGeom prst="roundRect">
            <a:avLst>
              <a:gd name="adj" fmla="val 4545"/>
            </a:avLst>
          </a:prstGeom>
          <a:solidFill>
            <a:srgbClr val="EAF4FF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521" y="1047899"/>
            <a:ext cx="57150" cy="1509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932" y="1186160"/>
            <a:ext cx="12418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aidra_core.py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9932" y="1488504"/>
            <a:ext cx="124182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AI logic: search, CSP, ML, fuzzy logic, and Bayesian inference.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138511" y="1047899"/>
            <a:ext cx="1561207" cy="1509043"/>
          </a:xfrm>
          <a:prstGeom prst="roundRect">
            <a:avLst>
              <a:gd name="adj" fmla="val 4545"/>
            </a:avLst>
          </a:prstGeom>
          <a:solidFill>
            <a:srgbClr val="EAF4FF"/>
          </a:solidFill>
          <a:ln w="14288">
            <a:solidFill>
              <a:srgbClr val="CFD2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224" y="1047899"/>
            <a:ext cx="57150" cy="15090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19635" y="1186160"/>
            <a:ext cx="12418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aidra_gui.py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319635" y="1488504"/>
            <a:ext cx="1241822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Tkinter GUI with 8 phase buttons, live 10×10 grid, victim status panel, and event log.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952429" y="925860"/>
            <a:ext cx="4851425" cy="3841998"/>
          </a:xfrm>
          <a:prstGeom prst="roundRect">
            <a:avLst>
              <a:gd name="adj" fmla="val 484"/>
            </a:avLst>
          </a:prstGeom>
          <a:solidFill>
            <a:srgbClr val="E8FBFF"/>
          </a:solidFill>
          <a:ln/>
        </p:spPr>
      </p:sp>
      <p:sp>
        <p:nvSpPr>
          <p:cNvPr id="13" name="Text 9"/>
          <p:cNvSpPr/>
          <p:nvPr/>
        </p:nvSpPr>
        <p:spPr>
          <a:xfrm>
            <a:off x="4076402" y="10478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02" y="1244352"/>
            <a:ext cx="2247454" cy="142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76402" y="133491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 Input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32352" y="104789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352" y="1244352"/>
            <a:ext cx="2247528" cy="142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32352" y="133491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Environment Model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076402" y="173027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6402" y="1914376"/>
            <a:ext cx="2247454" cy="142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076402" y="201729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Module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076402" y="2319635"/>
            <a:ext cx="224745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Survival Prediction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432352" y="173027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352" y="1926729"/>
            <a:ext cx="2247528" cy="1428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32352" y="2017291"/>
            <a:ext cx="224752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Fuzzy Logic + Bayesian Inference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076402" y="270718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6402" y="2878857"/>
            <a:ext cx="2247454" cy="142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076402" y="299419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CSP Solver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432352" y="270718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352" y="2878857"/>
            <a:ext cx="2247528" cy="142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432352" y="2994199"/>
            <a:ext cx="21338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 &amp; Route Planning (A*)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4076402" y="338956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07</a:t>
            </a:r>
            <a:endParaRPr lang="en-US" sz="9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6402" y="3548881"/>
            <a:ext cx="2247454" cy="142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076402" y="367657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Rescue Execution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6432352" y="338956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08</a:t>
            </a:r>
            <a:endParaRPr lang="en-US" sz="95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2352" y="3548881"/>
            <a:ext cx="2247528" cy="1428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432352" y="367657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Replanning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4076402" y="407193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09</a:t>
            </a:r>
            <a:endParaRPr lang="en-US" sz="95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6402" y="4218831"/>
            <a:ext cx="4603477" cy="1428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076402" y="435895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KPI 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5062"/>
            <a:ext cx="45458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 and Route Planning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18196"/>
            <a:ext cx="3732981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algorithms implemented: BFS, DFS, Greedy Best-First, A*, Hill Climbing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uses f = g + h (g = actual cost, h = Manhattan distance)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Cell costs: Empty=1, Aftershock=2, Fire Zone=5, Blocked=impassable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chosen for optimal safety and efficiency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3414043"/>
            <a:ext cx="3732981" cy="829196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629099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3591223"/>
            <a:ext cx="31305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trade-off for V2: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A* risk=2 vs Greedy risk=10, same steps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9739" y="1550119"/>
            <a:ext cx="4072830" cy="2698849"/>
          </a:xfrm>
          <a:prstGeom prst="roundRect">
            <a:avLst>
              <a:gd name="adj" fmla="val 7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26484" y="1644700"/>
            <a:ext cx="851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66581" y="1644700"/>
            <a:ext cx="28054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35403" y="1644700"/>
            <a:ext cx="28054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04224" y="1644700"/>
            <a:ext cx="605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98085" y="1644700"/>
            <a:ext cx="607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26484" y="2282726"/>
            <a:ext cx="851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BFS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66581" y="2282726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35403" y="2282726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004224" y="2282726"/>
            <a:ext cx="605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898085" y="2282726"/>
            <a:ext cx="607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726484" y="2693938"/>
            <a:ext cx="851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866581" y="2693938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35403" y="2693938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004224" y="2693938"/>
            <a:ext cx="605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898085" y="2693938"/>
            <a:ext cx="607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26484" y="3105150"/>
            <a:ext cx="851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Greedy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866581" y="3105150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35403" y="3105150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04224" y="3105150"/>
            <a:ext cx="605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98085" y="3105150"/>
            <a:ext cx="607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26484" y="3516362"/>
            <a:ext cx="851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866581" y="3516362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35403" y="3516362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004224" y="3516362"/>
            <a:ext cx="605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898085" y="3516362"/>
            <a:ext cx="607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26484" y="3927574"/>
            <a:ext cx="851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Hill Climb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866581" y="3927574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35403" y="3927574"/>
            <a:ext cx="280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004224" y="3927574"/>
            <a:ext cx="605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98085" y="3927574"/>
            <a:ext cx="607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1120"/>
            <a:ext cx="590252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Constraint Satisfaction Problem</a:t>
            </a:r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(CSP)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55563"/>
            <a:ext cx="82136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C4A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V1 to V5 (each victim).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{AMB-1, AMB-2, TEAM-1, WAIT}.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162" y="1401663"/>
            <a:ext cx="332259" cy="33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3170" y="140166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53170" y="1684065"/>
            <a:ext cx="214602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 to V5, each representing a victim to assign.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946" y="1401663"/>
            <a:ext cx="332259" cy="3322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2953" y="140166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Domain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742953" y="1684065"/>
            <a:ext cx="2146027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{AMB-1, AMB-2, TEAM-1, WAIT}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4729" y="1401663"/>
            <a:ext cx="332259" cy="3322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32736" y="140166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C4A6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Hard Constraints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532736" y="1684065"/>
            <a:ext cx="2146027" cy="116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 2 victims per ambulance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 1 victim per rescue team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victims require ambulance, not team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medical kits ≤ 10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162" y="2984897"/>
            <a:ext cx="332259" cy="3322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3170" y="298489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Solver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953170" y="3267298"/>
            <a:ext cx="3540919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Backtracking + MRV (Minimum Remaining Values) heuristic.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9837" y="2984897"/>
            <a:ext cx="332259" cy="3322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37845" y="2984897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Result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137845" y="3267298"/>
            <a:ext cx="354099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Solved in just 1 backtrack versus 4+ without MRV.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5137845" y="3547988"/>
            <a:ext cx="3540993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 → AMB-1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V2 → AMB-2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V3 → AMB-1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V4 → AMB-2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V5 → TEAM-1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65968"/>
            <a:ext cx="556505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Machine Learning: Survival Prediction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26393" y="1021407"/>
            <a:ext cx="3997003" cy="471339"/>
          </a:xfrm>
          <a:prstGeom prst="roundRect">
            <a:avLst>
              <a:gd name="adj" fmla="val 3877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208" y="1200373"/>
            <a:ext cx="152251" cy="1218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275" y="1156469"/>
            <a:ext cx="34793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Dataset: 800 synthetic training samples (640 train / 160 test)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26393" y="161046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 (5)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6393" y="1905446"/>
            <a:ext cx="3997003" cy="10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Severity code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elapsed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to hospital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risk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kits given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6393" y="3062511"/>
            <a:ext cx="203619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Models Trained &amp; Compared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6393" y="3370585"/>
            <a:ext cx="3997003" cy="1289149"/>
          </a:xfrm>
          <a:prstGeom prst="roundRect">
            <a:avLst>
              <a:gd name="adj" fmla="val 14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045" y="3442915"/>
            <a:ext cx="134897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150418" y="3442915"/>
            <a:ext cx="9478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46624" y="3442915"/>
            <a:ext cx="950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Score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53045" y="3764012"/>
            <a:ext cx="134897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kNN (k=5)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50418" y="3764012"/>
            <a:ext cx="9478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70.00%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346624" y="3764012"/>
            <a:ext cx="950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71.43%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53045" y="4085109"/>
            <a:ext cx="134897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Naive Bayes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150418" y="4085109"/>
            <a:ext cx="9478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74.38%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46624" y="4085109"/>
            <a:ext cx="950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74.85% ← BEST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53045" y="4406205"/>
            <a:ext cx="134897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MLP (128-64-32)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150418" y="4406205"/>
            <a:ext cx="947812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71.88%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346624" y="4406205"/>
            <a:ext cx="95019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73.05%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25367" y="1021407"/>
            <a:ext cx="3997003" cy="471339"/>
          </a:xfrm>
          <a:prstGeom prst="roundRect">
            <a:avLst>
              <a:gd name="adj" fmla="val 3877"/>
            </a:avLst>
          </a:prstGeom>
          <a:solidFill>
            <a:srgbClr val="C3CFE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83" y="1200373"/>
            <a:ext cx="152251" cy="1218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21250" y="1156469"/>
            <a:ext cx="347930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findings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725367" y="1610469"/>
            <a:ext cx="3997003" cy="61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Naive Bayes selected as primary model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 of all 3 used for final predictions</a:t>
            </a:r>
            <a:endParaRPr lang="en-US" sz="950" dirty="0"/>
          </a:p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Survival predictions at t=0: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908054" y="2345010"/>
            <a:ext cx="3814316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V1: 39.8%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V2: 51.7%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V3: 77.5%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V4: 77.7%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V5: 85.6%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25367" y="2345010"/>
            <a:ext cx="14288" cy="905991"/>
          </a:xfrm>
          <a:prstGeom prst="rect">
            <a:avLst/>
          </a:prstGeom>
          <a:solidFill>
            <a:srgbClr val="3257B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7030"/>
            <a:ext cx="77658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Uncertainty: Fuzzy Logic &amp; Bayesian Inference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62088"/>
            <a:ext cx="3902943" cy="2648024"/>
          </a:xfrm>
          <a:prstGeom prst="roundRect">
            <a:avLst>
              <a:gd name="adj" fmla="val 3453"/>
            </a:avLst>
          </a:prstGeom>
          <a:solidFill>
            <a:srgbClr val="FBFCFE"/>
          </a:solidFill>
          <a:ln w="19050">
            <a:solidFill>
              <a:srgbClr val="A7D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462088"/>
            <a:ext cx="76200" cy="2648024"/>
          </a:xfrm>
          <a:prstGeom prst="roundRect">
            <a:avLst>
              <a:gd name="adj" fmla="val 27907"/>
            </a:avLst>
          </a:prstGeom>
          <a:solidFill>
            <a:srgbClr val="A7D8FF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6228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Fuzzy Logic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1986111"/>
            <a:ext cx="3524176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Converts crisp inputs into urgency score (0–10)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Inputs: severity, zone risk, time elapsed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IF-THEN rules (e.g., IF severity=Critical AND time=high THEN urgency=9.5)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Urgency scores at t=0: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 &amp; V2: 8.5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V3 &amp; V4: 5.5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V5: 0.0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1462088"/>
            <a:ext cx="3902943" cy="2874838"/>
          </a:xfrm>
          <a:prstGeom prst="roundRect">
            <a:avLst>
              <a:gd name="adj" fmla="val 3181"/>
            </a:avLst>
          </a:prstGeom>
          <a:solidFill>
            <a:srgbClr val="FBFCFE"/>
          </a:solidFill>
          <a:ln w="19050">
            <a:solidFill>
              <a:srgbClr val="A7F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30651" y="1462088"/>
            <a:ext cx="76200" cy="2874838"/>
          </a:xfrm>
          <a:prstGeom prst="roundRect">
            <a:avLst>
              <a:gd name="adj" fmla="val 27907"/>
            </a:avLst>
          </a:prstGeom>
          <a:solidFill>
            <a:srgbClr val="A7F3FF"/>
          </a:solidFill>
          <a:ln/>
        </p:spPr>
      </p:sp>
      <p:sp>
        <p:nvSpPr>
          <p:cNvPr id="9" name="Text 7"/>
          <p:cNvSpPr/>
          <p:nvPr/>
        </p:nvSpPr>
        <p:spPr>
          <a:xfrm>
            <a:off x="4967660" y="16228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Bayesian Inference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7660" y="1986111"/>
            <a:ext cx="3524176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Estimates road blockage probability per cell type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 probabilities: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roads: 10%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Aftershock zones: 40%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 zones: 65%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aftershock event: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Aftershock zones: 61%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​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 zones: 86%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Informs rescue priority and route safety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53244"/>
            <a:ext cx="6253907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Replanning &amp; Rescue Execution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610" y="1015752"/>
            <a:ext cx="128439" cy="1284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" y="1191592"/>
            <a:ext cx="8244780" cy="142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610" y="1284387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Dynamic Event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49610" y="1554882"/>
            <a:ext cx="8244780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Mid-mission aftershock blocks roads at (4,5) and (3,7)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Bayesian probabilities update instantly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replans new safe routes automatically</a:t>
            </a:r>
            <a:endParaRPr lang="en-US" sz="100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decision logged with timestamp and justification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49610" y="2674441"/>
            <a:ext cx="8244780" cy="2103686"/>
          </a:xfrm>
          <a:prstGeom prst="roundRect">
            <a:avLst>
              <a:gd name="adj" fmla="val 91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3034" y="2767310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Victim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055962" y="2767310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373538" y="2767310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 (min)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691113" y="2767310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Survival %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173441" y="2767310"/>
            <a:ext cx="13877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83034" y="3117131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 Aisha Bibi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055962" y="3117131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AMB-1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73538" y="3117131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691113" y="3117131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28.6%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173441" y="3117131"/>
            <a:ext cx="13877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Rescued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83034" y="3466951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V2 Tariq Ahmed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055962" y="3466951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AMB-2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373538" y="3466951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691113" y="3466951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25.3%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173441" y="3466951"/>
            <a:ext cx="13877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Rescued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83034" y="3816772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V3 Fatima Malik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055962" y="3816772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AMB-1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373538" y="3816772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691113" y="3816772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64.3%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173441" y="3816772"/>
            <a:ext cx="13877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Rescued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83034" y="4166592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V4 Shahid Khan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055962" y="4166592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AMB-2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373538" y="4166592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691113" y="4166592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59.7%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173441" y="4166592"/>
            <a:ext cx="13877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Rescued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83034" y="4516413"/>
            <a:ext cx="22112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V5 Zara Noor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3055962" y="4516413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TEAM-1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373538" y="4516413"/>
            <a:ext cx="105593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691113" y="4516413"/>
            <a:ext cx="12206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78.5%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7173441" y="4516413"/>
            <a:ext cx="138774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Rescued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22957"/>
            <a:ext cx="417730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Evaluation &amp; KPIs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968573"/>
            <a:ext cx="1823517" cy="3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8FD3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5/5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80170" y="146528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Victims Rescued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4489" y="1731764"/>
            <a:ext cx="18235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success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610520" y="968573"/>
            <a:ext cx="1823591" cy="3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8FD3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14.2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2809205" y="1465287"/>
            <a:ext cx="142614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Rescue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0520" y="1731764"/>
            <a:ext cx="182359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minutes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74489" y="2130623"/>
            <a:ext cx="1823517" cy="3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8FD3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10/10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80170" y="262733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Medical Kits Used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4489" y="2893814"/>
            <a:ext cx="182351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deployment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10520" y="2130623"/>
            <a:ext cx="1823591" cy="3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8FD3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100%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2816275" y="262733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Resource Utilisation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10520" y="2893814"/>
            <a:ext cx="182359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resources allocated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4489" y="3157389"/>
            <a:ext cx="1834828" cy="817141"/>
          </a:xfrm>
          <a:prstGeom prst="roundRect">
            <a:avLst>
              <a:gd name="adj" fmla="val 2074"/>
            </a:avLst>
          </a:prstGeom>
          <a:solidFill>
            <a:srgbClr val="9FE9F3"/>
          </a:solidFill>
          <a:ln/>
        </p:spPr>
      </p:sp>
      <p:sp>
        <p:nvSpPr>
          <p:cNvPr id="16" name="Text 14"/>
          <p:cNvSpPr/>
          <p:nvPr/>
        </p:nvSpPr>
        <p:spPr>
          <a:xfrm>
            <a:off x="787450" y="3270349"/>
            <a:ext cx="143165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Path Optimality Ratio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7450" y="3536826"/>
            <a:ext cx="160890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= 1.00, DFS = 5.25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99283" y="3157389"/>
            <a:ext cx="1834828" cy="817141"/>
          </a:xfrm>
          <a:prstGeom prst="roundRect">
            <a:avLst>
              <a:gd name="adj" fmla="val 2074"/>
            </a:avLst>
          </a:prstGeom>
          <a:solidFill>
            <a:srgbClr val="9FE9F3"/>
          </a:solidFill>
          <a:ln/>
        </p:spPr>
      </p:sp>
      <p:sp>
        <p:nvSpPr>
          <p:cNvPr id="19" name="Text 17"/>
          <p:cNvSpPr/>
          <p:nvPr/>
        </p:nvSpPr>
        <p:spPr>
          <a:xfrm>
            <a:off x="2712244" y="327034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Exposure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12244" y="3536826"/>
            <a:ext cx="160890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total = 2 cells, Greedy for V2 = 10 cells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4489" y="4064496"/>
            <a:ext cx="3759622" cy="654769"/>
          </a:xfrm>
          <a:prstGeom prst="roundRect">
            <a:avLst>
              <a:gd name="adj" fmla="val 2588"/>
            </a:avLst>
          </a:prstGeom>
          <a:solidFill>
            <a:srgbClr val="9FE9F3"/>
          </a:solidFill>
          <a:ln/>
        </p:spPr>
      </p:sp>
      <p:sp>
        <p:nvSpPr>
          <p:cNvPr id="22" name="Text 20"/>
          <p:cNvSpPr/>
          <p:nvPr/>
        </p:nvSpPr>
        <p:spPr>
          <a:xfrm>
            <a:off x="787450" y="4177457"/>
            <a:ext cx="176011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CSP Backtracks with MRV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7450" y="4443933"/>
            <a:ext cx="353370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(without MRV: 4+)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14503" y="912093"/>
            <a:ext cx="3759622" cy="683344"/>
          </a:xfrm>
          <a:prstGeom prst="roundRect">
            <a:avLst>
              <a:gd name="adj" fmla="val 10036"/>
            </a:avLst>
          </a:prstGeom>
          <a:solidFill>
            <a:srgbClr val="FBFCFE"/>
          </a:solidFill>
          <a:ln w="14288">
            <a:solidFill>
              <a:srgbClr val="B7E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0215" y="912093"/>
            <a:ext cx="57150" cy="683344"/>
          </a:xfrm>
          <a:prstGeom prst="roundRect">
            <a:avLst>
              <a:gd name="adj" fmla="val 29651"/>
            </a:avLst>
          </a:prstGeom>
          <a:solidFill>
            <a:srgbClr val="B7E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84613" y="1039341"/>
            <a:ext cx="194332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Replanning Events Triggered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4613" y="1305818"/>
            <a:ext cx="34622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dynamic update during execution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14503" y="1685404"/>
            <a:ext cx="3759622" cy="683344"/>
          </a:xfrm>
          <a:prstGeom prst="roundRect">
            <a:avLst>
              <a:gd name="adj" fmla="val 10036"/>
            </a:avLst>
          </a:prstGeom>
          <a:solidFill>
            <a:srgbClr val="FBFCFE"/>
          </a:solidFill>
          <a:ln w="14288">
            <a:solidFill>
              <a:srgbClr val="B7E6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215" y="1685404"/>
            <a:ext cx="57150" cy="683344"/>
          </a:xfrm>
          <a:prstGeom prst="roundRect">
            <a:avLst>
              <a:gd name="adj" fmla="val 29651"/>
            </a:avLst>
          </a:prstGeom>
          <a:solidFill>
            <a:srgbClr val="B7E6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84613" y="181265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Trade-off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4613" y="2079129"/>
            <a:ext cx="34622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over Greedy for V2 — same steps, 80% less risk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14503" y="2458715"/>
            <a:ext cx="3759622" cy="683344"/>
          </a:xfrm>
          <a:prstGeom prst="roundRect">
            <a:avLst>
              <a:gd name="adj" fmla="val 10036"/>
            </a:avLst>
          </a:prstGeom>
          <a:solidFill>
            <a:srgbClr val="FBFCFE"/>
          </a:solidFill>
          <a:ln w="14288">
            <a:solidFill>
              <a:srgbClr val="B7E6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0215" y="2458715"/>
            <a:ext cx="57150" cy="683344"/>
          </a:xfrm>
          <a:prstGeom prst="roundRect">
            <a:avLst>
              <a:gd name="adj" fmla="val 29651"/>
            </a:avLst>
          </a:prstGeom>
          <a:solidFill>
            <a:srgbClr val="B7E6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84613" y="25859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Trade-off 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84613" y="2852440"/>
            <a:ext cx="346226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V1 rescued before V2 — lower survival (39.8% vs 51.7%)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7255"/>
            <a:ext cx="455793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Conclusions &amp; Future Work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03759"/>
            <a:ext cx="2622724" cy="2862486"/>
          </a:xfrm>
          <a:prstGeom prst="roundRect">
            <a:avLst>
              <a:gd name="adj" fmla="val 348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069" y="1503759"/>
            <a:ext cx="76200" cy="28624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1664568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Achievements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14077" y="2015430"/>
            <a:ext cx="2243956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integrated 5 AI components into one working system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5 victims rescued, all constraints satisfied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replanning handled mid-mission aftershock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 makes every decision observable in real time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60601" y="1503759"/>
            <a:ext cx="2622724" cy="2862486"/>
          </a:xfrm>
          <a:prstGeom prst="roundRect">
            <a:avLst>
              <a:gd name="adj" fmla="val 348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551" y="1503759"/>
            <a:ext cx="76200" cy="28624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664568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0369A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Results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478560" y="2015430"/>
            <a:ext cx="2243956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ML model: Naive Bayes (F1 = 74.85%)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 approach used for reliability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A* routing avoided 80% more risk than greedy alternatives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MRV heuristic reduced CSP backtracks from 4+ to just 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25083" y="1503759"/>
            <a:ext cx="2622724" cy="2862486"/>
          </a:xfrm>
          <a:prstGeom prst="roundRect">
            <a:avLst>
              <a:gd name="adj" fmla="val 348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1503759"/>
            <a:ext cx="76200" cy="28624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3042" y="1664568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Work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243042" y="2015430"/>
            <a:ext cx="2243956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synthetic ML data with real earthquake datasets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Upgrade grid to graph-based real road network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drag-and-drop map editor to GUI for custom scenarios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 to multi-team coordination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272058"/>
            <a:ext cx="1262583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40A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Links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1667991" y="529828"/>
            <a:ext cx="5808018" cy="265212"/>
          </a:xfrm>
          <a:prstGeom prst="roundRect">
            <a:avLst>
              <a:gd name="adj" fmla="val 4761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154" y="642268"/>
            <a:ext cx="105147" cy="84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41463" y="600745"/>
            <a:ext cx="5450384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</a:t>
            </a:r>
            <a:endParaRPr lang="en-US" sz="650" dirty="0"/>
          </a:p>
        </p:txBody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91" y="851222"/>
            <a:ext cx="5808018" cy="841697"/>
          </a:xfrm>
          <a:prstGeom prst="rect">
            <a:avLst/>
          </a:prstGeom>
        </p:spPr>
      </p:pic>
      <p:pic>
        <p:nvPicPr>
          <p:cNvPr id="7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991" y="1749103"/>
            <a:ext cx="5808018" cy="84169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667991" y="2646983"/>
            <a:ext cx="5808018" cy="265212"/>
          </a:xfrm>
          <a:prstGeom prst="roundRect">
            <a:avLst>
              <a:gd name="adj" fmla="val 4761"/>
            </a:avLst>
          </a:prstGeom>
          <a:solidFill>
            <a:srgbClr val="C3CFEF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154" y="2759422"/>
            <a:ext cx="105147" cy="8416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41463" y="2717899"/>
            <a:ext cx="5450384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50" dirty="0">
                <a:solidFill>
                  <a:srgbClr val="0369A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Video</a:t>
            </a:r>
            <a:endParaRPr lang="en-US" sz="650" dirty="0"/>
          </a:p>
        </p:txBody>
      </p:sp>
      <p:pic>
        <p:nvPicPr>
          <p:cNvPr id="11" name="Image 4" descr="preencoded.png">
            <a:hlinkClick r:id="rId8" tooltip="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7991" y="2968377"/>
            <a:ext cx="5808018" cy="841697"/>
          </a:xfrm>
          <a:prstGeom prst="rect">
            <a:avLst/>
          </a:prstGeom>
        </p:spPr>
      </p:pic>
      <p:pic>
        <p:nvPicPr>
          <p:cNvPr id="12" name="Image 5" descr="preencoded.png">
            <a:hlinkClick r:id="rId10" tooltip="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7991" y="3866257"/>
            <a:ext cx="5808018" cy="84169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667991" y="4764137"/>
            <a:ext cx="5808018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2026-05-10T15:51:56Z</dcterms:created>
  <dcterms:modified xsi:type="dcterms:W3CDTF">2026-05-10T15:51:56Z</dcterms:modified>
</cp:coreProperties>
</file>